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Squada One" charset="1" panose="02000000000000000000"/>
      <p:regular r:id="rId15"/>
    </p:embeddedFont>
    <p:embeddedFont>
      <p:font typeface="Helvetica World Bold Italics" charset="1" panose="020B0800040000090004"/>
      <p:regular r:id="rId16"/>
    </p:embeddedFont>
    <p:embeddedFont>
      <p:font typeface="Helvetica World Bold" charset="1" panose="020B0800040000020004"/>
      <p:regular r:id="rId17"/>
    </p:embeddedFont>
    <p:embeddedFont>
      <p:font typeface="Helvetica World" charset="1" panose="020B050004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https://www.gachon.ac.kr/kor/9856/subview.do?enc=Zm5jdDF8QEB8JTJGYmJzJTJGa29yJTJGMTU2NSUyRjEwMDU5OSUyRmFydGNsVmlldy5kbyUzRnBhZ2UlM0QxJTI2c3JjaENvbHVtbiUzRCUyNnNyY2hXcmQlM0QlMjZiYnNDbFNlcSUzRCUyNmJic09wZW5XcmRTZXElM0QlMjZyZ3NCZ25kZVN0ciUzRCUyNnJnc0VuZGRlU3RyJTNEJTI2aXNWaWV3TWluZSUzRGZhbHNlJTI2cGFzc3dvcmQlM0QlMjY%3D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57384" y="1028700"/>
            <a:ext cx="5611288" cy="9258300"/>
            <a:chOff x="0" y="0"/>
            <a:chExt cx="869335" cy="14343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69335" cy="1434353"/>
            </a:xfrm>
            <a:custGeom>
              <a:avLst/>
              <a:gdLst/>
              <a:ahLst/>
              <a:cxnLst/>
              <a:rect r="r" b="b" t="t" l="l"/>
              <a:pathLst>
                <a:path h="1434353" w="869335">
                  <a:moveTo>
                    <a:pt x="0" y="0"/>
                  </a:moveTo>
                  <a:lnTo>
                    <a:pt x="869335" y="0"/>
                  </a:lnTo>
                  <a:lnTo>
                    <a:pt x="869335" y="1434353"/>
                  </a:lnTo>
                  <a:lnTo>
                    <a:pt x="0" y="1434353"/>
                  </a:lnTo>
                  <a:close/>
                </a:path>
              </a:pathLst>
            </a:custGeom>
            <a:blipFill>
              <a:blip r:embed="rId2"/>
              <a:stretch>
                <a:fillRect l="-69133" t="0" r="-78132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704975"/>
            <a:ext cx="10134391" cy="572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15000" spc="-1019">
                <a:solidFill>
                  <a:srgbClr val="1E509A"/>
                </a:solidFill>
                <a:latin typeface="Squada One"/>
                <a:ea typeface="Squada One"/>
                <a:cs typeface="Squada One"/>
                <a:sym typeface="Squada One"/>
              </a:rPr>
              <a:t>WEB</a:t>
            </a:r>
          </a:p>
          <a:p>
            <a:pPr algn="l">
              <a:lnSpc>
                <a:spcPts val="10800"/>
              </a:lnSpc>
            </a:pPr>
            <a:r>
              <a:rPr lang="en-US" sz="15000" spc="-1019">
                <a:solidFill>
                  <a:srgbClr val="1E509A"/>
                </a:solidFill>
                <a:latin typeface="Squada One"/>
                <a:ea typeface="Squada One"/>
                <a:cs typeface="Squada One"/>
                <a:sym typeface="Squada One"/>
              </a:rPr>
              <a:t>PROGRAMMING CLUB </a:t>
            </a:r>
          </a:p>
          <a:p>
            <a:pPr algn="l">
              <a:lnSpc>
                <a:spcPts val="10800"/>
              </a:lnSpc>
            </a:pPr>
            <a:r>
              <a:rPr lang="en-US" sz="15000" spc="-1019">
                <a:solidFill>
                  <a:srgbClr val="1E509A"/>
                </a:solidFill>
                <a:latin typeface="Squada One"/>
                <a:ea typeface="Squada One"/>
                <a:cs typeface="Squada One"/>
                <a:sym typeface="Squada One"/>
              </a:rPr>
              <a:t>PROJECT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486650"/>
            <a:ext cx="9334500" cy="28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33"/>
              </a:lnSpc>
              <a:spcBef>
                <a:spcPct val="0"/>
              </a:spcBef>
            </a:pPr>
            <a:r>
              <a:rPr lang="en-US" b="true" sz="2078" i="true" spc="-141">
                <a:solidFill>
                  <a:srgbClr val="2E2E2E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“</a:t>
            </a:r>
            <a:r>
              <a:rPr lang="en-US" b="true" sz="2078" i="true" spc="-141">
                <a:solidFill>
                  <a:srgbClr val="FF2C3E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 </a:t>
            </a:r>
            <a:r>
              <a:rPr lang="en-US" b="true" sz="2078" i="true" spc="-141" strike="noStrike" u="none">
                <a:solidFill>
                  <a:srgbClr val="FF2C3E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A BETTER WEBSITE FOR GACHON WIND BASEBALL CLUB</a:t>
            </a:r>
            <a:r>
              <a:rPr lang="en-US" b="true" sz="2078" i="true" spc="-141" strike="noStrike" u="none">
                <a:solidFill>
                  <a:srgbClr val="FF2C3E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 </a:t>
            </a:r>
            <a:r>
              <a:rPr lang="en-US" b="true" sz="2078" i="true" spc="-141" strike="noStrike" u="none">
                <a:solidFill>
                  <a:srgbClr val="2E2E2E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“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875390" y="4302928"/>
            <a:ext cx="287701" cy="483902"/>
          </a:xfrm>
          <a:custGeom>
            <a:avLst/>
            <a:gdLst/>
            <a:ahLst/>
            <a:cxnLst/>
            <a:rect r="r" b="b" t="t" l="l"/>
            <a:pathLst>
              <a:path h="483902" w="287701">
                <a:moveTo>
                  <a:pt x="0" y="0"/>
                </a:moveTo>
                <a:lnTo>
                  <a:pt x="287701" y="0"/>
                </a:lnTo>
                <a:lnTo>
                  <a:pt x="287701" y="483901"/>
                </a:lnTo>
                <a:lnTo>
                  <a:pt x="0" y="4839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654004" y="4302928"/>
            <a:ext cx="287701" cy="483902"/>
          </a:xfrm>
          <a:custGeom>
            <a:avLst/>
            <a:gdLst/>
            <a:ahLst/>
            <a:cxnLst/>
            <a:rect r="r" b="b" t="t" l="l"/>
            <a:pathLst>
              <a:path h="483902" w="287701">
                <a:moveTo>
                  <a:pt x="0" y="0"/>
                </a:moveTo>
                <a:lnTo>
                  <a:pt x="287702" y="0"/>
                </a:lnTo>
                <a:lnTo>
                  <a:pt x="287702" y="483901"/>
                </a:lnTo>
                <a:lnTo>
                  <a:pt x="0" y="4839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425847" y="4302928"/>
            <a:ext cx="287701" cy="483902"/>
          </a:xfrm>
          <a:custGeom>
            <a:avLst/>
            <a:gdLst/>
            <a:ahLst/>
            <a:cxnLst/>
            <a:rect r="r" b="b" t="t" l="l"/>
            <a:pathLst>
              <a:path h="483902" w="287701">
                <a:moveTo>
                  <a:pt x="0" y="0"/>
                </a:moveTo>
                <a:lnTo>
                  <a:pt x="287702" y="0"/>
                </a:lnTo>
                <a:lnTo>
                  <a:pt x="287702" y="483901"/>
                </a:lnTo>
                <a:lnTo>
                  <a:pt x="0" y="4839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8240680"/>
            <a:ext cx="6690032" cy="1468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3"/>
              </a:lnSpc>
            </a:pPr>
            <a:r>
              <a:rPr lang="en-US" sz="2078" spc="41" b="true">
                <a:solidFill>
                  <a:srgbClr val="2E2E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Web Development Team 16: </a:t>
            </a:r>
          </a:p>
          <a:p>
            <a:pPr algn="l" marL="448812" indent="-224406" lvl="1">
              <a:lnSpc>
                <a:spcPts val="2452"/>
              </a:lnSpc>
              <a:buFont typeface="Arial"/>
              <a:buChar char="•"/>
            </a:pPr>
            <a:r>
              <a:rPr lang="en-US" sz="2078" spc="41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Ooi Yong Wee (202699472)</a:t>
            </a:r>
          </a:p>
          <a:p>
            <a:pPr algn="l" marL="448812" indent="-224406" lvl="1">
              <a:lnSpc>
                <a:spcPts val="2452"/>
              </a:lnSpc>
              <a:buFont typeface="Arial"/>
              <a:buChar char="•"/>
            </a:pPr>
            <a:r>
              <a:rPr lang="en-US" sz="2078" spc="41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Jasper Teo Kheng Cher (202699473)</a:t>
            </a:r>
          </a:p>
          <a:p>
            <a:pPr algn="l" marL="448812" indent="-224406" lvl="1">
              <a:lnSpc>
                <a:spcPts val="2452"/>
              </a:lnSpc>
              <a:buFont typeface="Arial"/>
              <a:buChar char="•"/>
            </a:pPr>
            <a:r>
              <a:rPr lang="en-US" sz="2078" spc="41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Wong Deng Foong (202699475)</a:t>
            </a:r>
          </a:p>
          <a:p>
            <a:pPr algn="l" marL="448812" indent="-224406" lvl="1">
              <a:lnSpc>
                <a:spcPts val="2452"/>
              </a:lnSpc>
              <a:buFont typeface="Arial"/>
              <a:buChar char="•"/>
            </a:pPr>
            <a:r>
              <a:rPr lang="en-US" sz="2078" spc="41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Wong Guan Qi Ryan (202699476)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76669" y="3218213"/>
            <a:ext cx="9534663" cy="6192747"/>
          </a:xfrm>
          <a:custGeom>
            <a:avLst/>
            <a:gdLst/>
            <a:ahLst/>
            <a:cxnLst/>
            <a:rect r="r" b="b" t="t" l="l"/>
            <a:pathLst>
              <a:path h="6192747" w="9534663">
                <a:moveTo>
                  <a:pt x="0" y="0"/>
                </a:moveTo>
                <a:lnTo>
                  <a:pt x="9534662" y="0"/>
                </a:lnTo>
                <a:lnTo>
                  <a:pt x="9534662" y="6192747"/>
                </a:lnTo>
                <a:lnTo>
                  <a:pt x="0" y="61927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21" r="0" b="-132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5359" y="3276125"/>
            <a:ext cx="3921310" cy="2854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FF2C3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POOR NAVIGATION: </a:t>
            </a:r>
            <a:r>
              <a:rPr lang="en-US" b="true" sz="2400">
                <a:solidFill>
                  <a:srgbClr val="2E2E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2400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</a:t>
            </a:r>
            <a:r>
              <a:rPr lang="en-US" sz="2400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2400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LE</a:t>
            </a:r>
            <a:r>
              <a:rPr lang="en-US" sz="2400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400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2400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IN</a:t>
            </a:r>
            <a:r>
              <a:rPr lang="en-US" sz="2400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</a:t>
            </a:r>
            <a:r>
              <a:rPr lang="en-US" sz="2400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2400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UCTI</a:t>
            </a:r>
            <a:r>
              <a:rPr lang="en-US" sz="2400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</a:t>
            </a:r>
            <a:r>
              <a:rPr lang="en-US" sz="2400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 MAKE</a:t>
            </a:r>
            <a:r>
              <a:rPr lang="en-US" sz="2400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GACHON WIND </a:t>
            </a:r>
            <a:r>
              <a:rPr lang="en-US" sz="2400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DIFFICULT T</a:t>
            </a:r>
            <a:r>
              <a:rPr lang="en-US" sz="2400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lang="en-US" sz="2400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FI</a:t>
            </a:r>
            <a:r>
              <a:rPr lang="en-US" sz="2400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400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 AND JOIN, ESPECIA</a:t>
            </a:r>
            <a:r>
              <a:rPr lang="en-US" sz="2400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lang="en-US" sz="2400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LY FOR </a:t>
            </a:r>
            <a:r>
              <a:rPr lang="en-US" sz="2400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</a:t>
            </a:r>
            <a:r>
              <a:rPr lang="en-US" sz="2400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400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400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RNATIONAL STUDENTS.</a:t>
            </a:r>
          </a:p>
          <a:p>
            <a:pPr algn="l" marL="0" indent="0" lvl="0">
              <a:lnSpc>
                <a:spcPts val="2232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4073476" y="3256313"/>
            <a:ext cx="3623155" cy="2874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 strike="noStrike" u="none">
                <a:solidFill>
                  <a:srgbClr val="FF2C3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MISSING INFO</a:t>
            </a:r>
            <a:r>
              <a:rPr lang="en-US" sz="2400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 LACK OF VIDEOS, PHOTOS, AND PRACTICE TIMETABLES MAKES IT DIFFICULT TO UNDERSTAND CCA ACTIVITIES AND SCHEDULES.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5359" y="6637009"/>
            <a:ext cx="3600676" cy="2874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 strike="noStrike" u="none">
                <a:solidFill>
                  <a:srgbClr val="FF2C3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BROKEN LINKS</a:t>
            </a:r>
            <a:r>
              <a:rPr lang="en-US" sz="2400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 THE CLUB'S HOMEPAGE LINK ON GACHON'S CCA PAGE IS NOT WORKING, MAKING IT DIFFICULT TO ACCESS CLUB INFORMATION.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74892" y="172316"/>
            <a:ext cx="12338217" cy="258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00"/>
              </a:lnSpc>
              <a:spcBef>
                <a:spcPct val="0"/>
              </a:spcBef>
            </a:pPr>
            <a:r>
              <a:rPr lang="en-US" sz="15000" spc="-1019" strike="noStrike" u="none">
                <a:solidFill>
                  <a:srgbClr val="1E509A"/>
                </a:solidFill>
                <a:latin typeface="Squada One"/>
                <a:ea typeface="Squada One"/>
                <a:cs typeface="Squada One"/>
                <a:sym typeface="Squada One"/>
              </a:rPr>
              <a:t>FOUR DEAD ENDS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73476" y="6635783"/>
            <a:ext cx="3623155" cy="259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 strike="noStrike" u="none">
                <a:solidFill>
                  <a:srgbClr val="FF2C3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NO PROPER CONTACTS</a:t>
            </a:r>
            <a:r>
              <a:rPr lang="en-US" sz="2400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LACK OF CLEAR CONTACT DETAILS DISCOURAGES INTERESTED STUDENTS FROM JOINING THE CLUB.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5867" y="307073"/>
            <a:ext cx="4949446" cy="4999838"/>
            <a:chOff x="0" y="0"/>
            <a:chExt cx="842932" cy="8515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2932" cy="851514"/>
            </a:xfrm>
            <a:custGeom>
              <a:avLst/>
              <a:gdLst/>
              <a:ahLst/>
              <a:cxnLst/>
              <a:rect r="r" b="b" t="t" l="l"/>
              <a:pathLst>
                <a:path h="851514" w="842932">
                  <a:moveTo>
                    <a:pt x="0" y="0"/>
                  </a:moveTo>
                  <a:lnTo>
                    <a:pt x="842932" y="0"/>
                  </a:lnTo>
                  <a:lnTo>
                    <a:pt x="842932" y="851514"/>
                  </a:lnTo>
                  <a:lnTo>
                    <a:pt x="0" y="851514"/>
                  </a:lnTo>
                  <a:close/>
                </a:path>
              </a:pathLst>
            </a:custGeom>
            <a:blipFill>
              <a:blip r:embed="rId2"/>
              <a:stretch>
                <a:fillRect l="0" t="0" r="-5138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875189" y="1637087"/>
            <a:ext cx="4784124" cy="5225817"/>
            <a:chOff x="0" y="0"/>
            <a:chExt cx="814776" cy="89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76" cy="890000"/>
            </a:xfrm>
            <a:custGeom>
              <a:avLst/>
              <a:gdLst/>
              <a:ahLst/>
              <a:cxnLst/>
              <a:rect r="r" b="b" t="t" l="l"/>
              <a:pathLst>
                <a:path h="890000" w="814776">
                  <a:moveTo>
                    <a:pt x="0" y="0"/>
                  </a:moveTo>
                  <a:lnTo>
                    <a:pt x="814776" y="0"/>
                  </a:lnTo>
                  <a:lnTo>
                    <a:pt x="814776" y="890000"/>
                  </a:lnTo>
                  <a:lnTo>
                    <a:pt x="0" y="890000"/>
                  </a:lnTo>
                  <a:close/>
                </a:path>
              </a:pathLst>
            </a:custGeom>
            <a:blipFill>
              <a:blip r:embed="rId3"/>
              <a:stretch>
                <a:fillRect l="-30047" t="0" r="-33651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89884" y="7721988"/>
            <a:ext cx="10754734" cy="2176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583"/>
              </a:lnSpc>
              <a:spcBef>
                <a:spcPct val="0"/>
              </a:spcBef>
            </a:pPr>
            <a:r>
              <a:rPr lang="en-US" sz="20540" spc="-1684" strike="noStrike" u="none">
                <a:solidFill>
                  <a:srgbClr val="1E509A"/>
                </a:solidFill>
                <a:latin typeface="Squada One"/>
                <a:ea typeface="Squada One"/>
                <a:cs typeface="Squada One"/>
                <a:sym typeface="Squada One"/>
              </a:rPr>
              <a:t>WHAT EXISTS?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59459" y="1133475"/>
            <a:ext cx="8429395" cy="55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36"/>
              </a:lnSpc>
              <a:spcBef>
                <a:spcPct val="0"/>
              </a:spcBef>
            </a:pPr>
            <a:r>
              <a:rPr lang="en-US" b="true" sz="4017" spc="-273" strike="noStrike">
                <a:solidFill>
                  <a:srgbClr val="FF2C3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TWO </a:t>
            </a:r>
            <a:r>
              <a:rPr lang="en-US" b="true" sz="4017" spc="-273" strike="noStrike">
                <a:solidFill>
                  <a:srgbClr val="FF2C3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SOUR</a:t>
            </a:r>
            <a:r>
              <a:rPr lang="en-US" b="true" sz="4017" spc="-273" strike="noStrike">
                <a:solidFill>
                  <a:srgbClr val="FF2C3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CES</a:t>
            </a:r>
            <a:r>
              <a:rPr lang="en-US" b="true" sz="4017" spc="-273" strike="noStrike">
                <a:solidFill>
                  <a:srgbClr val="2E2E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, </a:t>
            </a:r>
            <a:r>
              <a:rPr lang="en-US" b="true" sz="4017" spc="-273" strike="noStrike">
                <a:solidFill>
                  <a:srgbClr val="2E2E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</a:t>
            </a:r>
            <a:r>
              <a:rPr lang="en-US" b="true" sz="4017" spc="-273" strike="noStrike">
                <a:solidFill>
                  <a:srgbClr val="2E2E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EITHER </a:t>
            </a:r>
            <a:r>
              <a:rPr lang="en-US" b="true" sz="4017" spc="-273" strike="noStrike">
                <a:solidFill>
                  <a:srgbClr val="2E2E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</a:t>
            </a:r>
            <a:r>
              <a:rPr lang="en-US" b="true" sz="4017" spc="-273" strike="noStrike">
                <a:solidFill>
                  <a:srgbClr val="2E2E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OMPLETE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07453" y="2130168"/>
            <a:ext cx="8081401" cy="87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8"/>
              </a:lnSpc>
              <a:spcBef>
                <a:spcPct val="0"/>
              </a:spcBef>
            </a:pPr>
            <a:r>
              <a:rPr lang="en-US" b="true" sz="2417" spc="-164" strike="noStrike" u="none">
                <a:solidFill>
                  <a:srgbClr val="FF2C3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GACHON CCA PAGE: </a:t>
            </a:r>
            <a:r>
              <a:rPr lang="en-US" b="true" sz="2417" spc="-164" strike="noStrike" u="none">
                <a:solidFill>
                  <a:srgbClr val="2E2E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2417" spc="-164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OFFICIAL CLUB LISTING, BUT THE HOMEPAGE LINK IS BROKEN. </a:t>
            </a:r>
            <a:r>
              <a:rPr lang="en-US" sz="2417" spc="-164" strike="noStrike" u="sng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  <a:hlinkClick r:id="rId4" tooltip="https://www.gachon.ac.kr/kor/9856/subview.do?enc=Zm5jdDF8QEB8JTJGYmJzJTJGa29yJTJGMTU2NSUyRjEwMDU5OSUyRmFydGNsVmlldy5kbyUzRnBhZ2UlM0QxJTI2c3JjaENvbHVtbiUzRCUyNnNyY2hXcmQlM0QlMjZiYnNDbFNlcSUzRCUyNmJic09wZW5XcmRTZXElM0QlMjZyZ3NCZ25kZVN0ciUzRCUyNnJnc0VuZGRlU3RyJTNEJTI2aXNWaWV3TWluZSUzRGZhbHNlJTI2cGFzc3dvcmQlM0QlMjY%3D"/>
              </a:rPr>
              <a:t>LINK</a:t>
            </a:r>
          </a:p>
          <a:p>
            <a:pPr algn="l" marL="0" indent="0" lvl="0">
              <a:lnSpc>
                <a:spcPts val="2248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707453" y="3222216"/>
            <a:ext cx="7507315" cy="87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8"/>
              </a:lnSpc>
              <a:spcBef>
                <a:spcPct val="0"/>
              </a:spcBef>
            </a:pPr>
            <a:r>
              <a:rPr lang="en-US" b="true" sz="2417" spc="-164" strike="noStrike" u="none">
                <a:solidFill>
                  <a:srgbClr val="FF2C3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INSTAGRAM (@GCU_WIND):</a:t>
            </a:r>
            <a:r>
              <a:rPr lang="en-US" b="true" sz="2417" spc="-164" strike="noStrike" u="none">
                <a:solidFill>
                  <a:srgbClr val="2E2E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 </a:t>
            </a:r>
            <a:r>
              <a:rPr lang="en-US" sz="2417" spc="-164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REAL TEAM PHOTOS, BUT LIMITED UPDATES. LINK</a:t>
            </a:r>
          </a:p>
          <a:p>
            <a:pPr algn="l" marL="0" indent="0" lvl="0">
              <a:lnSpc>
                <a:spcPts val="2248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707453" y="4314263"/>
            <a:ext cx="5903869" cy="121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8"/>
              </a:lnSpc>
              <a:spcBef>
                <a:spcPct val="0"/>
              </a:spcBef>
            </a:pPr>
            <a:r>
              <a:rPr lang="en-US" b="true" sz="2417" spc="-164">
                <a:solidFill>
                  <a:srgbClr val="2E2E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KEY INFORMATION </a:t>
            </a:r>
            <a:r>
              <a:rPr lang="en-US" b="true" sz="2417" spc="-164" strike="noStrike" u="none">
                <a:solidFill>
                  <a:srgbClr val="2E2E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</a:t>
            </a:r>
            <a:r>
              <a:rPr lang="en-US" b="true" sz="2417" spc="-164" strike="noStrike" u="none">
                <a:solidFill>
                  <a:srgbClr val="2E2E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</a:t>
            </a:r>
            <a:r>
              <a:rPr lang="en-US" b="true" sz="2417" spc="-164" strike="noStrike" u="none">
                <a:solidFill>
                  <a:srgbClr val="2E2E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b="true" sz="2417" spc="-164" strike="noStrike" u="none">
                <a:solidFill>
                  <a:srgbClr val="2E2E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</a:t>
            </a:r>
            <a:r>
              <a:rPr lang="en-US" b="true" sz="2417" spc="-164" strike="noStrike" u="none">
                <a:solidFill>
                  <a:srgbClr val="2E2E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</a:t>
            </a:r>
            <a:r>
              <a:rPr lang="en-US" b="true" sz="2417" spc="-164" strike="noStrike" u="none">
                <a:solidFill>
                  <a:srgbClr val="2E2E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CTIC</a:t>
            </a:r>
            <a:r>
              <a:rPr lang="en-US" b="true" sz="2417" spc="-164" strike="noStrike" u="none">
                <a:solidFill>
                  <a:srgbClr val="2E2E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 SCHEDULE, SIGN-UP FORM</a:t>
            </a:r>
            <a:r>
              <a:rPr lang="en-US" b="true" sz="2417" spc="-164" strike="noStrike" u="none">
                <a:solidFill>
                  <a:srgbClr val="2E2E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,</a:t>
            </a:r>
            <a:r>
              <a:rPr lang="en-US" b="true" sz="2417" spc="-164" strike="noStrike" u="none">
                <a:solidFill>
                  <a:srgbClr val="2E2E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OR </a:t>
            </a:r>
            <a:r>
              <a:rPr lang="en-US" b="true" sz="2417" spc="-164" strike="noStrike" u="none">
                <a:solidFill>
                  <a:srgbClr val="2E2E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CLE</a:t>
            </a:r>
            <a:r>
              <a:rPr lang="en-US" b="true" sz="2417" spc="-164" strike="noStrike" u="none">
                <a:solidFill>
                  <a:srgbClr val="2E2E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AR CONTACT</a:t>
            </a:r>
            <a:r>
              <a:rPr lang="en-US" b="true" sz="2417" spc="-164" strike="noStrike" u="none">
                <a:solidFill>
                  <a:srgbClr val="2E2E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DETAILS.</a:t>
            </a:r>
          </a:p>
          <a:p>
            <a:pPr algn="l" marL="0" indent="0" lvl="0">
              <a:lnSpc>
                <a:spcPts val="2248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359459" y="2101427"/>
            <a:ext cx="166372" cy="279830"/>
          </a:xfrm>
          <a:custGeom>
            <a:avLst/>
            <a:gdLst/>
            <a:ahLst/>
            <a:cxnLst/>
            <a:rect r="r" b="b" t="t" l="l"/>
            <a:pathLst>
              <a:path h="279830" w="166372">
                <a:moveTo>
                  <a:pt x="0" y="0"/>
                </a:moveTo>
                <a:lnTo>
                  <a:pt x="166371" y="0"/>
                </a:lnTo>
                <a:lnTo>
                  <a:pt x="166371" y="279830"/>
                </a:lnTo>
                <a:lnTo>
                  <a:pt x="0" y="2798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359459" y="3155541"/>
            <a:ext cx="166372" cy="279830"/>
          </a:xfrm>
          <a:custGeom>
            <a:avLst/>
            <a:gdLst/>
            <a:ahLst/>
            <a:cxnLst/>
            <a:rect r="r" b="b" t="t" l="l"/>
            <a:pathLst>
              <a:path h="279830" w="166372">
                <a:moveTo>
                  <a:pt x="0" y="0"/>
                </a:moveTo>
                <a:lnTo>
                  <a:pt x="166371" y="0"/>
                </a:lnTo>
                <a:lnTo>
                  <a:pt x="166371" y="279830"/>
                </a:lnTo>
                <a:lnTo>
                  <a:pt x="0" y="2798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359459" y="4247588"/>
            <a:ext cx="166372" cy="279830"/>
          </a:xfrm>
          <a:custGeom>
            <a:avLst/>
            <a:gdLst/>
            <a:ahLst/>
            <a:cxnLst/>
            <a:rect r="r" b="b" t="t" l="l"/>
            <a:pathLst>
              <a:path h="279830" w="166372">
                <a:moveTo>
                  <a:pt x="0" y="0"/>
                </a:moveTo>
                <a:lnTo>
                  <a:pt x="166371" y="0"/>
                </a:lnTo>
                <a:lnTo>
                  <a:pt x="166371" y="279830"/>
                </a:lnTo>
                <a:lnTo>
                  <a:pt x="0" y="2798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96737" y="2393973"/>
            <a:ext cx="15694526" cy="2586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411"/>
              </a:lnSpc>
              <a:spcBef>
                <a:spcPct val="0"/>
              </a:spcBef>
            </a:pPr>
            <a:r>
              <a:rPr lang="en-US" sz="24522" spc="-2010" strike="noStrike" u="none">
                <a:solidFill>
                  <a:srgbClr val="1E509A"/>
                </a:solidFill>
                <a:latin typeface="Squada One"/>
                <a:ea typeface="Squada One"/>
                <a:cs typeface="Squada One"/>
                <a:sym typeface="Squada One"/>
              </a:rPr>
              <a:t>OUR SOLUTIONS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690620"/>
            <a:ext cx="4610819" cy="888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4"/>
              </a:lnSpc>
              <a:spcBef>
                <a:spcPct val="0"/>
              </a:spcBef>
            </a:pPr>
            <a:r>
              <a:rPr lang="en-US" sz="5145" spc="-349" strike="noStrike" u="none">
                <a:solidFill>
                  <a:srgbClr val="FF2C3E"/>
                </a:solidFill>
                <a:latin typeface="Squada One"/>
                <a:ea typeface="Squada One"/>
                <a:cs typeface="Squada One"/>
                <a:sym typeface="Squada One"/>
              </a:rPr>
              <a:t>DISCOVER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82519" y="5705636"/>
            <a:ext cx="4065144" cy="888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4"/>
              </a:lnSpc>
              <a:spcBef>
                <a:spcPct val="0"/>
              </a:spcBef>
            </a:pPr>
            <a:r>
              <a:rPr lang="en-US" sz="5145" spc="-349" strike="noStrike" u="none">
                <a:solidFill>
                  <a:srgbClr val="FF2C3E"/>
                </a:solidFill>
                <a:latin typeface="Squada One"/>
                <a:ea typeface="Squada One"/>
                <a:cs typeface="Squada One"/>
                <a:sym typeface="Squada One"/>
              </a:rPr>
              <a:t>JOIN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14501" y="5690620"/>
            <a:ext cx="4917566" cy="888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4"/>
              </a:lnSpc>
              <a:spcBef>
                <a:spcPct val="0"/>
              </a:spcBef>
            </a:pPr>
            <a:r>
              <a:rPr lang="en-US" sz="5145" spc="-349">
                <a:solidFill>
                  <a:srgbClr val="FF2C3E"/>
                </a:solidFill>
                <a:latin typeface="Squada One"/>
                <a:ea typeface="Squada One"/>
                <a:cs typeface="Squada One"/>
                <a:sym typeface="Squada One"/>
              </a:rPr>
              <a:t>LANGUAGE TRANSLATION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184655"/>
            <a:ext cx="3745962" cy="1121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7"/>
              </a:lnSpc>
              <a:spcBef>
                <a:spcPct val="0"/>
              </a:spcBef>
            </a:pPr>
            <a:r>
              <a:rPr lang="en-US" sz="2416" spc="125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Club info, photos, videos and the game schedule in one place that always works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82519" y="7184655"/>
            <a:ext cx="4489907" cy="844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7"/>
              </a:lnSpc>
              <a:spcBef>
                <a:spcPct val="0"/>
              </a:spcBef>
            </a:pPr>
            <a:r>
              <a:rPr lang="en-US" sz="2416" spc="125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 online sign-up form and clear contacts replace broken links and dead ends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14501" y="7184655"/>
            <a:ext cx="4035274" cy="1121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7"/>
              </a:lnSpc>
              <a:spcBef>
                <a:spcPct val="0"/>
              </a:spcBef>
            </a:pPr>
            <a:r>
              <a:rPr lang="en-US" sz="2416" spc="125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 English, Korean, Vietnamese and Japanese for Gachon's international students</a:t>
            </a:r>
          </a:p>
        </p:txBody>
      </p:sp>
      <p:sp>
        <p:nvSpPr>
          <p:cNvPr name="AutoShape 9" id="9"/>
          <p:cNvSpPr/>
          <p:nvPr/>
        </p:nvSpPr>
        <p:spPr>
          <a:xfrm>
            <a:off x="1028700" y="9114449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-5400000">
            <a:off x="1152886" y="8872498"/>
            <a:ext cx="287701" cy="483902"/>
          </a:xfrm>
          <a:custGeom>
            <a:avLst/>
            <a:gdLst/>
            <a:ahLst/>
            <a:cxnLst/>
            <a:rect r="r" b="b" t="t" l="l"/>
            <a:pathLst>
              <a:path h="483902" w="287701">
                <a:moveTo>
                  <a:pt x="0" y="0"/>
                </a:moveTo>
                <a:lnTo>
                  <a:pt x="287702" y="0"/>
                </a:lnTo>
                <a:lnTo>
                  <a:pt x="287702" y="483902"/>
                </a:lnTo>
                <a:lnTo>
                  <a:pt x="0" y="483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6980619" y="8872498"/>
            <a:ext cx="287701" cy="483902"/>
          </a:xfrm>
          <a:custGeom>
            <a:avLst/>
            <a:gdLst/>
            <a:ahLst/>
            <a:cxnLst/>
            <a:rect r="r" b="b" t="t" l="l"/>
            <a:pathLst>
              <a:path h="483902" w="287701">
                <a:moveTo>
                  <a:pt x="0" y="0"/>
                </a:moveTo>
                <a:lnTo>
                  <a:pt x="287701" y="0"/>
                </a:lnTo>
                <a:lnTo>
                  <a:pt x="287701" y="483902"/>
                </a:lnTo>
                <a:lnTo>
                  <a:pt x="0" y="483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12712601" y="8872498"/>
            <a:ext cx="287701" cy="483902"/>
          </a:xfrm>
          <a:custGeom>
            <a:avLst/>
            <a:gdLst/>
            <a:ahLst/>
            <a:cxnLst/>
            <a:rect r="r" b="b" t="t" l="l"/>
            <a:pathLst>
              <a:path h="483902" w="287701">
                <a:moveTo>
                  <a:pt x="0" y="0"/>
                </a:moveTo>
                <a:lnTo>
                  <a:pt x="287702" y="0"/>
                </a:lnTo>
                <a:lnTo>
                  <a:pt x="287702" y="483902"/>
                </a:lnTo>
                <a:lnTo>
                  <a:pt x="0" y="483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275070" cy="7630481"/>
            <a:chOff x="0" y="0"/>
            <a:chExt cx="972173" cy="11821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2173" cy="1182161"/>
            </a:xfrm>
            <a:custGeom>
              <a:avLst/>
              <a:gdLst/>
              <a:ahLst/>
              <a:cxnLst/>
              <a:rect r="r" b="b" t="t" l="l"/>
              <a:pathLst>
                <a:path h="1182161" w="972173">
                  <a:moveTo>
                    <a:pt x="0" y="0"/>
                  </a:moveTo>
                  <a:lnTo>
                    <a:pt x="972173" y="0"/>
                  </a:lnTo>
                  <a:lnTo>
                    <a:pt x="972173" y="1182161"/>
                  </a:lnTo>
                  <a:lnTo>
                    <a:pt x="0" y="1182161"/>
                  </a:lnTo>
                  <a:close/>
                </a:path>
              </a:pathLst>
            </a:custGeom>
            <a:blipFill>
              <a:blip r:embed="rId2"/>
              <a:stretch>
                <a:fillRect l="-41428" t="0" r="-41428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258625" y="1832064"/>
            <a:ext cx="10664461" cy="4654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942"/>
              </a:lnSpc>
              <a:spcBef>
                <a:spcPct val="0"/>
              </a:spcBef>
            </a:pPr>
            <a:r>
              <a:rPr lang="en-US" sz="23531" spc="-1600" strike="noStrike" u="none">
                <a:solidFill>
                  <a:srgbClr val="1E509A"/>
                </a:solidFill>
                <a:latin typeface="Squada One"/>
                <a:ea typeface="Squada One"/>
                <a:cs typeface="Squada One"/>
                <a:sym typeface="Squada One"/>
              </a:rPr>
              <a:t>KEY FEATURES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9892" y="8363033"/>
            <a:ext cx="3921310" cy="629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7"/>
              </a:lnSpc>
              <a:spcBef>
                <a:spcPct val="0"/>
              </a:spcBef>
            </a:pPr>
            <a:r>
              <a:rPr lang="en-US" b="true" sz="2416" spc="-164">
                <a:solidFill>
                  <a:srgbClr val="FF2C3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1.</a:t>
            </a:r>
            <a:r>
              <a:rPr lang="en-US" b="true" sz="2416" spc="-164" strike="noStrike" u="none">
                <a:solidFill>
                  <a:srgbClr val="FF2C3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CLUB PROFILE, ACTIVITIES AND UPCOMING EVENTS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91752" y="8363033"/>
            <a:ext cx="3623155" cy="629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7"/>
              </a:lnSpc>
              <a:spcBef>
                <a:spcPct val="0"/>
              </a:spcBef>
            </a:pPr>
            <a:r>
              <a:rPr lang="en-US" b="true" sz="2416" spc="-164">
                <a:solidFill>
                  <a:srgbClr val="FF2C3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2. </a:t>
            </a:r>
            <a:r>
              <a:rPr lang="en-US" b="true" sz="2416" spc="-164" strike="noStrike" u="none">
                <a:solidFill>
                  <a:srgbClr val="FF2C3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 SCHEDULE OF EVERY FUTURE BASEBALL GAME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05457" y="8363033"/>
            <a:ext cx="3384631" cy="936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7"/>
              </a:lnSpc>
              <a:spcBef>
                <a:spcPct val="0"/>
              </a:spcBef>
            </a:pPr>
            <a:r>
              <a:rPr lang="en-US" b="true" sz="2416" spc="-164">
                <a:solidFill>
                  <a:srgbClr val="FF2C3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3.</a:t>
            </a:r>
            <a:r>
              <a:rPr lang="en-US" b="true" sz="2416" spc="-164" strike="noStrike" u="none">
                <a:solidFill>
                  <a:srgbClr val="FF2C3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SIGN-UP FORM, JOINING STEPS AND CONTACT DETAILS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280637" y="8363033"/>
            <a:ext cx="3831863" cy="1243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7"/>
              </a:lnSpc>
              <a:spcBef>
                <a:spcPct val="0"/>
              </a:spcBef>
            </a:pPr>
            <a:r>
              <a:rPr lang="en-US" b="true" sz="2416" spc="-164">
                <a:solidFill>
                  <a:srgbClr val="FF2C3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4.</a:t>
            </a:r>
            <a:r>
              <a:rPr lang="en-US" b="true" sz="2416" spc="-164" strike="noStrike" u="none">
                <a:solidFill>
                  <a:srgbClr val="FF2C3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PHOTO AND VIDEO GALLERY, MOBILE-FRIENDLY AND INTERACTIVE, WITH A LANGUAGE SWITCH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33084" y="5742972"/>
            <a:ext cx="4776013" cy="888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4"/>
              </a:lnSpc>
              <a:spcBef>
                <a:spcPct val="0"/>
              </a:spcBef>
            </a:pPr>
            <a:r>
              <a:rPr lang="en-US" sz="5145" spc="-349" strike="noStrike" u="sng">
                <a:solidFill>
                  <a:srgbClr val="2E2E2E"/>
                </a:solidFill>
                <a:latin typeface="Squada One"/>
                <a:ea typeface="Squada One"/>
                <a:cs typeface="Squada One"/>
                <a:sym typeface="Squada One"/>
              </a:rPr>
              <a:t>ALL IN ONE SITE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96737" y="2393973"/>
            <a:ext cx="15694526" cy="2586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411"/>
              </a:lnSpc>
              <a:spcBef>
                <a:spcPct val="0"/>
              </a:spcBef>
            </a:pPr>
            <a:r>
              <a:rPr lang="en-US" sz="24522" spc="-2010" strike="noStrike" u="none">
                <a:solidFill>
                  <a:srgbClr val="1E509A"/>
                </a:solidFill>
                <a:latin typeface="Squada One"/>
                <a:ea typeface="Squada One"/>
                <a:cs typeface="Squada One"/>
                <a:sym typeface="Squada One"/>
              </a:rPr>
              <a:t>WHY IT'S BETTER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704535"/>
            <a:ext cx="4610819" cy="888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4"/>
              </a:lnSpc>
              <a:spcBef>
                <a:spcPct val="0"/>
              </a:spcBef>
            </a:pPr>
            <a:r>
              <a:rPr lang="en-US" sz="5145" spc="-349" strike="noStrike" u="none">
                <a:solidFill>
                  <a:srgbClr val="FF2C3E"/>
                </a:solidFill>
                <a:latin typeface="Squada One"/>
                <a:ea typeface="Squada One"/>
                <a:cs typeface="Squada One"/>
                <a:sym typeface="Squada One"/>
              </a:rPr>
              <a:t>ALWAYS CURRENT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82148" y="5704535"/>
            <a:ext cx="4065144" cy="888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4"/>
              </a:lnSpc>
              <a:spcBef>
                <a:spcPct val="0"/>
              </a:spcBef>
            </a:pPr>
            <a:r>
              <a:rPr lang="en-US" sz="5145" spc="-349" strike="noStrike" u="none">
                <a:solidFill>
                  <a:srgbClr val="FF2C3E"/>
                </a:solidFill>
                <a:latin typeface="Squada One"/>
                <a:ea typeface="Squada One"/>
                <a:cs typeface="Squada One"/>
                <a:sym typeface="Squada One"/>
              </a:rPr>
              <a:t>EASY TO JOIN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14131" y="5704535"/>
            <a:ext cx="4917566" cy="888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4"/>
              </a:lnSpc>
              <a:spcBef>
                <a:spcPct val="0"/>
              </a:spcBef>
            </a:pPr>
            <a:r>
              <a:rPr lang="en-US" sz="5145" spc="-349" strike="noStrike" u="none">
                <a:solidFill>
                  <a:srgbClr val="FF2C3E"/>
                </a:solidFill>
                <a:latin typeface="Squada One"/>
                <a:ea typeface="Squada One"/>
                <a:cs typeface="Squada One"/>
                <a:sym typeface="Squada One"/>
              </a:rPr>
              <a:t>TRULY ACCESSIBLE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326429"/>
            <a:ext cx="3745962" cy="1121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7"/>
              </a:lnSpc>
              <a:spcBef>
                <a:spcPct val="0"/>
              </a:spcBef>
            </a:pPr>
            <a:r>
              <a:rPr lang="en-US" sz="2416" spc="-164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CCA page is static and Instagram rarely posts; our schedule and gallery stay up to date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82148" y="7326429"/>
            <a:ext cx="4489907" cy="844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7"/>
              </a:lnSpc>
              <a:spcBef>
                <a:spcPct val="0"/>
              </a:spcBef>
            </a:pPr>
            <a:r>
              <a:rPr lang="en-US" sz="2416" spc="-164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Neither existing option has a sign-up form or working contact; ours takes a few clicks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14131" y="7326429"/>
            <a:ext cx="4035274" cy="844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7"/>
              </a:lnSpc>
              <a:spcBef>
                <a:spcPct val="0"/>
              </a:spcBef>
            </a:pPr>
            <a:r>
              <a:rPr lang="en-US" sz="2416" spc="-164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Four languages and a mobile-first layout, so every Gachon student can use it</a:t>
            </a:r>
          </a:p>
        </p:txBody>
      </p:sp>
      <p:sp>
        <p:nvSpPr>
          <p:cNvPr name="AutoShape 9" id="9"/>
          <p:cNvSpPr/>
          <p:nvPr/>
        </p:nvSpPr>
        <p:spPr>
          <a:xfrm>
            <a:off x="1028700" y="9114449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-5400000">
            <a:off x="1006121" y="8872498"/>
            <a:ext cx="287701" cy="483902"/>
          </a:xfrm>
          <a:custGeom>
            <a:avLst/>
            <a:gdLst/>
            <a:ahLst/>
            <a:cxnLst/>
            <a:rect r="r" b="b" t="t" l="l"/>
            <a:pathLst>
              <a:path h="483902" w="287701">
                <a:moveTo>
                  <a:pt x="0" y="0"/>
                </a:moveTo>
                <a:lnTo>
                  <a:pt x="287701" y="0"/>
                </a:lnTo>
                <a:lnTo>
                  <a:pt x="287701" y="483902"/>
                </a:lnTo>
                <a:lnTo>
                  <a:pt x="0" y="483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6738297" y="8901875"/>
            <a:ext cx="287701" cy="483902"/>
          </a:xfrm>
          <a:custGeom>
            <a:avLst/>
            <a:gdLst/>
            <a:ahLst/>
            <a:cxnLst/>
            <a:rect r="r" b="b" t="t" l="l"/>
            <a:pathLst>
              <a:path h="483902" w="287701">
                <a:moveTo>
                  <a:pt x="0" y="0"/>
                </a:moveTo>
                <a:lnTo>
                  <a:pt x="287702" y="0"/>
                </a:lnTo>
                <a:lnTo>
                  <a:pt x="287702" y="483902"/>
                </a:lnTo>
                <a:lnTo>
                  <a:pt x="0" y="483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12470474" y="8901875"/>
            <a:ext cx="287701" cy="483902"/>
          </a:xfrm>
          <a:custGeom>
            <a:avLst/>
            <a:gdLst/>
            <a:ahLst/>
            <a:cxnLst/>
            <a:rect r="r" b="b" t="t" l="l"/>
            <a:pathLst>
              <a:path h="483902" w="287701">
                <a:moveTo>
                  <a:pt x="0" y="0"/>
                </a:moveTo>
                <a:lnTo>
                  <a:pt x="287702" y="0"/>
                </a:lnTo>
                <a:lnTo>
                  <a:pt x="287702" y="483902"/>
                </a:lnTo>
                <a:lnTo>
                  <a:pt x="0" y="483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14607" y="3518065"/>
            <a:ext cx="7058786" cy="6238099"/>
            <a:chOff x="0" y="0"/>
            <a:chExt cx="1337687" cy="11821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7687" cy="1182161"/>
            </a:xfrm>
            <a:custGeom>
              <a:avLst/>
              <a:gdLst/>
              <a:ahLst/>
              <a:cxnLst/>
              <a:rect r="r" b="b" t="t" l="l"/>
              <a:pathLst>
                <a:path h="1182161" w="1337687">
                  <a:moveTo>
                    <a:pt x="0" y="0"/>
                  </a:moveTo>
                  <a:lnTo>
                    <a:pt x="1337687" y="0"/>
                  </a:lnTo>
                  <a:lnTo>
                    <a:pt x="1337687" y="1182161"/>
                  </a:lnTo>
                  <a:lnTo>
                    <a:pt x="0" y="1182161"/>
                  </a:lnTo>
                  <a:close/>
                </a:path>
              </a:pathLst>
            </a:custGeom>
            <a:blipFill>
              <a:blip r:embed="rId2"/>
              <a:stretch>
                <a:fillRect l="-8987" t="0" r="-8987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811770" y="1138119"/>
            <a:ext cx="10664461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sz="15000" spc="-1019">
                <a:solidFill>
                  <a:srgbClr val="1E509A"/>
                </a:solidFill>
                <a:latin typeface="Squada One"/>
                <a:ea typeface="Squada One"/>
                <a:cs typeface="Squada One"/>
                <a:sym typeface="Squada One"/>
              </a:rPr>
              <a:t>FOUR </a:t>
            </a:r>
            <a:r>
              <a:rPr lang="en-US" sz="15000" spc="-1019" strike="noStrike" u="none">
                <a:solidFill>
                  <a:srgbClr val="1E509A"/>
                </a:solidFill>
                <a:latin typeface="Squada One"/>
                <a:ea typeface="Squada One"/>
                <a:cs typeface="Squada One"/>
                <a:sym typeface="Squada One"/>
              </a:rPr>
              <a:t>PHASE PLAN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212984"/>
            <a:ext cx="3921310" cy="87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7"/>
              </a:lnSpc>
              <a:spcBef>
                <a:spcPct val="0"/>
              </a:spcBef>
            </a:pPr>
            <a:r>
              <a:rPr lang="en-US" b="true" sz="2416" spc="-164" strike="noStrike" u="none">
                <a:solidFill>
                  <a:srgbClr val="FF2C3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1. PLAN &amp; DESIGN: </a:t>
            </a:r>
            <a:r>
              <a:rPr lang="en-US" sz="2416" spc="-164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COLLECT CLUB CONTENT, SITE MAP AND WIREFRAMES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476925"/>
            <a:ext cx="3623155" cy="1151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7"/>
              </a:lnSpc>
              <a:spcBef>
                <a:spcPct val="0"/>
              </a:spcBef>
            </a:pPr>
            <a:r>
              <a:rPr lang="en-US" b="true" sz="2416" spc="-164" strike="noStrike" u="none">
                <a:solidFill>
                  <a:srgbClr val="FF2C3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2. DEVELOP:</a:t>
            </a:r>
            <a:r>
              <a:rPr lang="en-US" sz="2416" spc="-164" strike="noStrike" u="none">
                <a:solidFill>
                  <a:srgbClr val="FF2C3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16" spc="-164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HTML &amp; CSS PAGES, THEN JAVASCRIPT FOR SCHEDULE, GALLERY, FORM AND LANGUAGES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986955" y="4212984"/>
            <a:ext cx="3831863" cy="87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7"/>
              </a:lnSpc>
              <a:spcBef>
                <a:spcPct val="0"/>
              </a:spcBef>
            </a:pPr>
            <a:r>
              <a:rPr lang="en-US" b="true" sz="2416" spc="-164" strike="noStrike" u="none">
                <a:solidFill>
                  <a:srgbClr val="FF2C3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3. TEST &amp; FEEDBACK:</a:t>
            </a:r>
            <a:r>
              <a:rPr lang="en-US" b="true" sz="2416" spc="-164" strike="noStrike" u="none">
                <a:solidFill>
                  <a:srgbClr val="2E2E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2416" spc="-164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PHONES, BROWSERS, WIND MEMBERS AND STUDENTS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86955" y="7476925"/>
            <a:ext cx="3831863" cy="1151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7"/>
              </a:lnSpc>
              <a:spcBef>
                <a:spcPct val="0"/>
              </a:spcBef>
            </a:pPr>
            <a:r>
              <a:rPr lang="en-US" b="true" sz="2416" spc="-164" strike="noStrike" u="none">
                <a:solidFill>
                  <a:srgbClr val="FF2C3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4. LAUNCH:</a:t>
            </a:r>
            <a:r>
              <a:rPr lang="en-US" b="true" sz="2416" spc="-164" strike="noStrike" u="none">
                <a:solidFill>
                  <a:srgbClr val="2E2E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2416" spc="-164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FIX ISSUES, PUBLISH, AND HAND IT TO THE CLUB TO KEEP UPDATED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321" y="-227317"/>
            <a:ext cx="4949446" cy="4999838"/>
            <a:chOff x="0" y="0"/>
            <a:chExt cx="842932" cy="8515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2932" cy="851514"/>
            </a:xfrm>
            <a:custGeom>
              <a:avLst/>
              <a:gdLst/>
              <a:ahLst/>
              <a:cxnLst/>
              <a:rect r="r" b="b" t="t" l="l"/>
              <a:pathLst>
                <a:path h="851514" w="842932">
                  <a:moveTo>
                    <a:pt x="0" y="0"/>
                  </a:moveTo>
                  <a:lnTo>
                    <a:pt x="842932" y="0"/>
                  </a:lnTo>
                  <a:lnTo>
                    <a:pt x="842932" y="851514"/>
                  </a:lnTo>
                  <a:lnTo>
                    <a:pt x="0" y="851514"/>
                  </a:lnTo>
                  <a:close/>
                </a:path>
              </a:pathLst>
            </a:custGeom>
            <a:blipFill>
              <a:blip r:embed="rId2"/>
              <a:stretch>
                <a:fillRect l="0" t="0" r="-5138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936544" y="1028700"/>
            <a:ext cx="4784124" cy="5225817"/>
            <a:chOff x="0" y="0"/>
            <a:chExt cx="814776" cy="89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76" cy="890000"/>
            </a:xfrm>
            <a:custGeom>
              <a:avLst/>
              <a:gdLst/>
              <a:ahLst/>
              <a:cxnLst/>
              <a:rect r="r" b="b" t="t" l="l"/>
              <a:pathLst>
                <a:path h="890000" w="814776">
                  <a:moveTo>
                    <a:pt x="0" y="0"/>
                  </a:moveTo>
                  <a:lnTo>
                    <a:pt x="814776" y="0"/>
                  </a:lnTo>
                  <a:lnTo>
                    <a:pt x="814776" y="890000"/>
                  </a:lnTo>
                  <a:lnTo>
                    <a:pt x="0" y="890000"/>
                  </a:lnTo>
                  <a:close/>
                </a:path>
              </a:pathLst>
            </a:custGeom>
            <a:blipFill>
              <a:blip r:embed="rId3"/>
              <a:stretch>
                <a:fillRect l="-30047" t="0" r="-33651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89884" y="7721988"/>
            <a:ext cx="12914559" cy="2176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583"/>
              </a:lnSpc>
              <a:spcBef>
                <a:spcPct val="0"/>
              </a:spcBef>
            </a:pPr>
            <a:r>
              <a:rPr lang="en-US" sz="20540" spc="-1684" strike="noStrike" u="none">
                <a:solidFill>
                  <a:srgbClr val="1E509A"/>
                </a:solidFill>
                <a:latin typeface="Squada One"/>
                <a:ea typeface="Squada One"/>
                <a:cs typeface="Squada One"/>
                <a:sym typeface="Squada One"/>
              </a:rPr>
              <a:t>OUR TEAM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67942" y="1461881"/>
            <a:ext cx="6158239" cy="292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8"/>
              </a:lnSpc>
              <a:spcBef>
                <a:spcPct val="0"/>
              </a:spcBef>
            </a:pPr>
            <a:r>
              <a:rPr lang="en-US" sz="2417" spc="-164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RYAN – HOMEPAGE AND CLUB INFO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67942" y="2311687"/>
            <a:ext cx="6158239" cy="292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8"/>
              </a:lnSpc>
              <a:spcBef>
                <a:spcPct val="0"/>
              </a:spcBef>
            </a:pPr>
            <a:r>
              <a:rPr lang="en-US" sz="2417" spc="-164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YONG WEE </a:t>
            </a:r>
            <a:r>
              <a:rPr lang="en-US" sz="2417" spc="-164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– SCHEDULE AND EVENTS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67942" y="3194775"/>
            <a:ext cx="5581583" cy="292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8"/>
              </a:lnSpc>
              <a:spcBef>
                <a:spcPct val="0"/>
              </a:spcBef>
            </a:pPr>
            <a:r>
              <a:rPr lang="en-US" sz="2417" spc="-164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JASPER </a:t>
            </a:r>
            <a:r>
              <a:rPr lang="en-US" sz="2417" spc="-164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– SIGN-UP APPLICATION FORM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267942" y="4049289"/>
            <a:ext cx="5903869" cy="292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8"/>
              </a:lnSpc>
              <a:spcBef>
                <a:spcPct val="0"/>
              </a:spcBef>
            </a:pPr>
            <a:r>
              <a:rPr lang="en-US" sz="2417" spc="-164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DENG FOONG </a:t>
            </a:r>
            <a:r>
              <a:rPr lang="en-US" sz="2417" spc="-164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– MULTILINGUAL SUPPORT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919948" y="1452918"/>
            <a:ext cx="166372" cy="279830"/>
          </a:xfrm>
          <a:custGeom>
            <a:avLst/>
            <a:gdLst/>
            <a:ahLst/>
            <a:cxnLst/>
            <a:rect r="r" b="b" t="t" l="l"/>
            <a:pathLst>
              <a:path h="279830" w="166372">
                <a:moveTo>
                  <a:pt x="0" y="0"/>
                </a:moveTo>
                <a:lnTo>
                  <a:pt x="166372" y="0"/>
                </a:lnTo>
                <a:lnTo>
                  <a:pt x="166372" y="279830"/>
                </a:lnTo>
                <a:lnTo>
                  <a:pt x="0" y="2798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919948" y="2282945"/>
            <a:ext cx="166372" cy="279830"/>
          </a:xfrm>
          <a:custGeom>
            <a:avLst/>
            <a:gdLst/>
            <a:ahLst/>
            <a:cxnLst/>
            <a:rect r="r" b="b" t="t" l="l"/>
            <a:pathLst>
              <a:path h="279830" w="166372">
                <a:moveTo>
                  <a:pt x="0" y="0"/>
                </a:moveTo>
                <a:lnTo>
                  <a:pt x="166372" y="0"/>
                </a:lnTo>
                <a:lnTo>
                  <a:pt x="166372" y="279830"/>
                </a:lnTo>
                <a:lnTo>
                  <a:pt x="0" y="2798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919948" y="3128100"/>
            <a:ext cx="166372" cy="279830"/>
          </a:xfrm>
          <a:custGeom>
            <a:avLst/>
            <a:gdLst/>
            <a:ahLst/>
            <a:cxnLst/>
            <a:rect r="r" b="b" t="t" l="l"/>
            <a:pathLst>
              <a:path h="279830" w="166372">
                <a:moveTo>
                  <a:pt x="0" y="0"/>
                </a:moveTo>
                <a:lnTo>
                  <a:pt x="166372" y="0"/>
                </a:lnTo>
                <a:lnTo>
                  <a:pt x="166372" y="279830"/>
                </a:lnTo>
                <a:lnTo>
                  <a:pt x="0" y="2798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919948" y="4061998"/>
            <a:ext cx="166372" cy="279830"/>
          </a:xfrm>
          <a:custGeom>
            <a:avLst/>
            <a:gdLst/>
            <a:ahLst/>
            <a:cxnLst/>
            <a:rect r="r" b="b" t="t" l="l"/>
            <a:pathLst>
              <a:path h="279830" w="166372">
                <a:moveTo>
                  <a:pt x="0" y="0"/>
                </a:moveTo>
                <a:lnTo>
                  <a:pt x="166372" y="0"/>
                </a:lnTo>
                <a:lnTo>
                  <a:pt x="166372" y="279830"/>
                </a:lnTo>
                <a:lnTo>
                  <a:pt x="0" y="2798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669420" y="7129132"/>
            <a:ext cx="287701" cy="483902"/>
          </a:xfrm>
          <a:custGeom>
            <a:avLst/>
            <a:gdLst/>
            <a:ahLst/>
            <a:cxnLst/>
            <a:rect r="r" b="b" t="t" l="l"/>
            <a:pathLst>
              <a:path h="483902" w="287701">
                <a:moveTo>
                  <a:pt x="0" y="0"/>
                </a:moveTo>
                <a:lnTo>
                  <a:pt x="287701" y="0"/>
                </a:lnTo>
                <a:lnTo>
                  <a:pt x="287701" y="483901"/>
                </a:lnTo>
                <a:lnTo>
                  <a:pt x="0" y="4839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448034" y="7129132"/>
            <a:ext cx="287701" cy="483902"/>
          </a:xfrm>
          <a:custGeom>
            <a:avLst/>
            <a:gdLst/>
            <a:ahLst/>
            <a:cxnLst/>
            <a:rect r="r" b="b" t="t" l="l"/>
            <a:pathLst>
              <a:path h="483902" w="287701">
                <a:moveTo>
                  <a:pt x="0" y="0"/>
                </a:moveTo>
                <a:lnTo>
                  <a:pt x="287701" y="0"/>
                </a:lnTo>
                <a:lnTo>
                  <a:pt x="287701" y="483901"/>
                </a:lnTo>
                <a:lnTo>
                  <a:pt x="0" y="4839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219877" y="7129132"/>
            <a:ext cx="287701" cy="483902"/>
          </a:xfrm>
          <a:custGeom>
            <a:avLst/>
            <a:gdLst/>
            <a:ahLst/>
            <a:cxnLst/>
            <a:rect r="r" b="b" t="t" l="l"/>
            <a:pathLst>
              <a:path h="483902" w="287701">
                <a:moveTo>
                  <a:pt x="0" y="0"/>
                </a:moveTo>
                <a:lnTo>
                  <a:pt x="287701" y="0"/>
                </a:lnTo>
                <a:lnTo>
                  <a:pt x="287701" y="483901"/>
                </a:lnTo>
                <a:lnTo>
                  <a:pt x="0" y="4839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6241804" y="9061102"/>
            <a:ext cx="1017496" cy="200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302"/>
              </a:lnSpc>
              <a:spcBef>
                <a:spcPct val="0"/>
              </a:spcBef>
            </a:pPr>
            <a:r>
              <a:rPr lang="en-US" b="true" sz="1400" spc="-95" strike="noStrike" u="none">
                <a:solidFill>
                  <a:srgbClr val="2E2E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TEAM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6035677" y="9056296"/>
            <a:ext cx="206127" cy="202004"/>
            <a:chOff x="0" y="0"/>
            <a:chExt cx="635000" cy="6223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5000" cy="622300"/>
            </a:xfrm>
            <a:custGeom>
              <a:avLst/>
              <a:gdLst/>
              <a:ahLst/>
              <a:cxnLst/>
              <a:rect r="r" b="b" t="t" l="l"/>
              <a:pathLst>
                <a:path h="622300" w="6350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FF2C3E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46050" y="196850"/>
              <a:ext cx="342900" cy="285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47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92806" y="2269683"/>
            <a:ext cx="7554855" cy="495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004"/>
              </a:lnSpc>
              <a:spcBef>
                <a:spcPct val="0"/>
              </a:spcBef>
            </a:pPr>
            <a:r>
              <a:rPr lang="en-US" sz="25357" spc="-2079" strike="noStrike" u="none">
                <a:solidFill>
                  <a:srgbClr val="1E509A"/>
                </a:solidFill>
                <a:latin typeface="Squada One"/>
                <a:ea typeface="Squada One"/>
                <a:cs typeface="Squada One"/>
                <a:sym typeface="Squada One"/>
              </a:rPr>
              <a:t>EASY TO JOIN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8432880"/>
            <a:ext cx="4002078" cy="278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47"/>
              </a:lnSpc>
              <a:spcBef>
                <a:spcPct val="0"/>
              </a:spcBef>
            </a:pPr>
            <a:r>
              <a:rPr lang="en-US" b="true" sz="2094" spc="-142" strike="noStrike" u="none">
                <a:solidFill>
                  <a:srgbClr val="2E2E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TEAM 16 · WEB PROGRAMMING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976946"/>
            <a:ext cx="3786551" cy="278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47"/>
              </a:lnSpc>
              <a:spcBef>
                <a:spcPct val="0"/>
              </a:spcBef>
            </a:pPr>
            <a:r>
              <a:rPr lang="en-US" b="true" sz="2094" spc="-142" strike="noStrike" u="none">
                <a:solidFill>
                  <a:srgbClr val="2E2E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THANK YOU! QUESTIONS?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827269"/>
            <a:ext cx="2676585" cy="281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47"/>
              </a:lnSpc>
              <a:spcBef>
                <a:spcPct val="0"/>
              </a:spcBef>
            </a:pPr>
            <a:r>
              <a:rPr lang="en-US" b="true" sz="2094" spc="-142" strike="noStrike" u="none">
                <a:solidFill>
                  <a:srgbClr val="2E2E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@GCU_WIND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-140200"/>
            <a:ext cx="6763407" cy="6711568"/>
            <a:chOff x="0" y="0"/>
            <a:chExt cx="1127137" cy="11184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7137" cy="1118498"/>
            </a:xfrm>
            <a:custGeom>
              <a:avLst/>
              <a:gdLst/>
              <a:ahLst/>
              <a:cxnLst/>
              <a:rect r="r" b="b" t="t" l="l"/>
              <a:pathLst>
                <a:path h="1118498" w="1127137">
                  <a:moveTo>
                    <a:pt x="0" y="0"/>
                  </a:moveTo>
                  <a:lnTo>
                    <a:pt x="1127137" y="0"/>
                  </a:lnTo>
                  <a:lnTo>
                    <a:pt x="1127137" y="1118498"/>
                  </a:lnTo>
                  <a:lnTo>
                    <a:pt x="0" y="1118498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2636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980539" y="7676443"/>
            <a:ext cx="3648252" cy="853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97"/>
              </a:lnSpc>
              <a:spcBef>
                <a:spcPct val="0"/>
              </a:spcBef>
            </a:pPr>
            <a:r>
              <a:rPr lang="en-US" sz="1825" spc="-124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OUR WEBSITE TURNS SCATTERED, OUTDATED INFO INTO ONE RELIABLE HOME FOR GACHON WIND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989398" y="8957130"/>
            <a:ext cx="3648252" cy="643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97"/>
              </a:lnSpc>
              <a:spcBef>
                <a:spcPct val="0"/>
              </a:spcBef>
            </a:pPr>
            <a:r>
              <a:rPr lang="en-US" sz="1825" spc="-124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MORE STUDENTS DISCOVER THE CLUB, SEE WHAT IT DOES AND SIGN UP, IN THEIR OWN LANGUAGE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80539" y="8904960"/>
            <a:ext cx="3174088" cy="434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97"/>
              </a:lnSpc>
              <a:spcBef>
                <a:spcPct val="0"/>
              </a:spcBef>
            </a:pPr>
            <a:r>
              <a:rPr lang="en-US" sz="1825" spc="-124" strike="noStrike" u="none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SIMPLE FOR THE CLUB TO KEEP UP TO DATE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701728" y="7628818"/>
            <a:ext cx="121195" cy="203845"/>
          </a:xfrm>
          <a:custGeom>
            <a:avLst/>
            <a:gdLst/>
            <a:ahLst/>
            <a:cxnLst/>
            <a:rect r="r" b="b" t="t" l="l"/>
            <a:pathLst>
              <a:path h="203845" w="121195">
                <a:moveTo>
                  <a:pt x="0" y="0"/>
                </a:moveTo>
                <a:lnTo>
                  <a:pt x="121195" y="0"/>
                </a:lnTo>
                <a:lnTo>
                  <a:pt x="121195" y="203845"/>
                </a:lnTo>
                <a:lnTo>
                  <a:pt x="0" y="203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763617" y="8909505"/>
            <a:ext cx="121195" cy="203845"/>
          </a:xfrm>
          <a:custGeom>
            <a:avLst/>
            <a:gdLst/>
            <a:ahLst/>
            <a:cxnLst/>
            <a:rect r="r" b="b" t="t" l="l"/>
            <a:pathLst>
              <a:path h="203845" w="121195">
                <a:moveTo>
                  <a:pt x="0" y="0"/>
                </a:moveTo>
                <a:lnTo>
                  <a:pt x="121196" y="0"/>
                </a:lnTo>
                <a:lnTo>
                  <a:pt x="121196" y="203845"/>
                </a:lnTo>
                <a:lnTo>
                  <a:pt x="0" y="203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701728" y="8853972"/>
            <a:ext cx="121195" cy="203845"/>
          </a:xfrm>
          <a:custGeom>
            <a:avLst/>
            <a:gdLst/>
            <a:ahLst/>
            <a:cxnLst/>
            <a:rect r="r" b="b" t="t" l="l"/>
            <a:pathLst>
              <a:path h="203845" w="121195">
                <a:moveTo>
                  <a:pt x="0" y="0"/>
                </a:moveTo>
                <a:lnTo>
                  <a:pt x="121195" y="0"/>
                </a:lnTo>
                <a:lnTo>
                  <a:pt x="121195" y="203845"/>
                </a:lnTo>
                <a:lnTo>
                  <a:pt x="0" y="203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989398" y="7778365"/>
            <a:ext cx="3174088" cy="434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97"/>
              </a:lnSpc>
              <a:spcBef>
                <a:spcPct val="0"/>
              </a:spcBef>
            </a:pPr>
            <a:r>
              <a:rPr lang="en-US" sz="1825" spc="-124">
                <a:solidFill>
                  <a:srgbClr val="2E2E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RESPONSIVE FOR DIFFERENT PLATFORMS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3763617" y="7730740"/>
            <a:ext cx="121195" cy="203845"/>
          </a:xfrm>
          <a:custGeom>
            <a:avLst/>
            <a:gdLst/>
            <a:ahLst/>
            <a:cxnLst/>
            <a:rect r="r" b="b" t="t" l="l"/>
            <a:pathLst>
              <a:path h="203845" w="121195">
                <a:moveTo>
                  <a:pt x="0" y="0"/>
                </a:moveTo>
                <a:lnTo>
                  <a:pt x="121196" y="0"/>
                </a:lnTo>
                <a:lnTo>
                  <a:pt x="121196" y="203845"/>
                </a:lnTo>
                <a:lnTo>
                  <a:pt x="0" y="203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DAHY7YVHd84</dc:identifier>
  <dcterms:modified xsi:type="dcterms:W3CDTF">2011-08-01T06:04:30Z</dcterms:modified>
  <cp:revision>1</cp:revision>
  <dc:title>Team 16 – Gachon WIND CCA Website Proposal</dc:title>
</cp:coreProperties>
</file>